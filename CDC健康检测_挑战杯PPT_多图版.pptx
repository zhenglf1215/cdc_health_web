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0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4572000" cy="4572000"/>
          </a:xfrm>
          <a:prstGeom prst="ellipse">
            <a:avLst/>
          </a:prstGeom>
          <a:solidFill>
            <a:srgbClr val="00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0" y="-1828800"/>
            <a:ext cx="2743200" cy="2743200"/>
          </a:xfrm>
          <a:prstGeom prst="ellipse">
            <a:avLst/>
          </a:prstGeom>
          <a:solidFill>
            <a:srgbClr val="00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73152" cy="13716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FFFFFF"/>
                </a:solidFill>
              </a:defRPr>
            </a:pPr>
            <a:r>
              <a:t>CDC健康检测系统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C8FF"/>
                </a:solidFill>
              </a:defRPr>
            </a:pPr>
            <a:r>
              <a:t>基于智能穿戴设备的热舒适度实时监测平台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029200"/>
            <a:ext cx="5486400" cy="1097280"/>
          </a:xfrm>
          <a:prstGeom prst="roundRect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521208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第十五届挑战杯</a:t>
            </a:r>
          </a:p>
          <a:p>
            <a:pPr>
              <a:defRPr sz="1600">
                <a:solidFill>
                  <a:srgbClr val="B4DCFF"/>
                </a:solidFill>
              </a:defRPr>
            </a:pPr>
            <a:r>
              <a:t>大学生创业计划竞赛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28600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❤️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274320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411480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🌡️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项目背景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34747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3474720" cy="137160"/>
          </a:xfrm>
          <a:prstGeom prst="rect">
            <a:avLst/>
          </a:prstGeom>
          <a:solidFill>
            <a:srgbClr val="FF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3474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F2850"/>
                </a:solidFill>
              </a:defRPr>
            </a:pPr>
            <a:r>
              <a:t>热射病频发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46E78"/>
                </a:solidFill>
              </a:defRPr>
            </a:pPr>
            <a:r>
              <a:t>高温作业死亡事故频发</a:t>
            </a:r>
            <a:br/>
            <a:r>
              <a:t>工人健康无法保障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097280"/>
            <a:ext cx="34747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1097280"/>
            <a:ext cx="3474720" cy="137160"/>
          </a:xfrm>
          <a:prstGeom prst="rect">
            <a:avLst/>
          </a:prstGeom>
          <a:solidFill>
            <a:srgbClr val="FF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463040"/>
            <a:ext cx="3474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01752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F2850"/>
                </a:solidFill>
              </a:defRPr>
            </a:pPr>
            <a:r>
              <a:t>检测落后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6576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46E78"/>
                </a:solidFill>
              </a:defRPr>
            </a:pPr>
            <a:r>
              <a:t>传统方式依赖人工</a:t>
            </a:r>
            <a:br/>
            <a:r>
              <a:t>效率低、误差大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1097280"/>
            <a:ext cx="34747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0" y="1097280"/>
            <a:ext cx="3474720" cy="137160"/>
          </a:xfrm>
          <a:prstGeom prst="rect">
            <a:avLst/>
          </a:prstGeom>
          <a:solidFill>
            <a:srgbClr val="FF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463040"/>
            <a:ext cx="3474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59" y="301752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F2850"/>
                </a:solidFill>
              </a:defRPr>
            </a:pPr>
            <a:r>
              <a:t>数据孤岛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59" y="36576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46E78"/>
                </a:solidFill>
              </a:defRPr>
            </a:pPr>
            <a:r>
              <a:t>心率体温代谢分散</a:t>
            </a:r>
            <a:br/>
            <a:r>
              <a:t>缺乏综合分析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937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8C00"/>
                </a:solidFill>
              </a:defRPr>
            </a:pPr>
            <a:r>
              <a:t>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303520"/>
            <a:ext cx="10058400" cy="1280160"/>
          </a:xfrm>
          <a:prstGeom prst="roundRect">
            <a:avLst/>
          </a:prstGeom>
          <a:solidFill>
            <a:srgbClr val="00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577840"/>
            <a:ext cx="9692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🚀 我们的方案：一站式智能监测平台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核心功能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4747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3474720" cy="109728"/>
          </a:xfrm>
          <a:prstGeom prst="rect">
            <a:avLst/>
          </a:prstGeom>
          <a:solidFill>
            <a:srgbClr val="FF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474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/>
            </a:pPr>
            <a:r>
              <a:t>❤️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39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F2850"/>
                </a:solidFill>
              </a:defRPr>
            </a:pPr>
            <a:r>
              <a:t>心率监测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39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E78"/>
                </a:solidFill>
              </a:defRPr>
            </a:pPr>
            <a:r>
              <a:t>实时采集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097280"/>
            <a:ext cx="34747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097280"/>
            <a:ext cx="3474720" cy="10972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371600"/>
            <a:ext cx="3474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/>
            </a:pPr>
            <a:r>
              <a:t>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834639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F2850"/>
                </a:solidFill>
              </a:defRPr>
            </a:pPr>
            <a:r>
              <a:t>代谢率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291839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E78"/>
                </a:solidFill>
              </a:defRPr>
            </a:pPr>
            <a:r>
              <a:t>Mi计算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097280"/>
            <a:ext cx="34747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9" y="1097280"/>
            <a:ext cx="3474720" cy="109728"/>
          </a:xfrm>
          <a:prstGeom prst="rect">
            <a:avLst/>
          </a:prstGeom>
          <a:solidFill>
            <a:srgbClr val="C8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1371600"/>
            <a:ext cx="3474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/>
            </a:pPr>
            <a:r>
              <a:t>🌡️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59" y="2834639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F2850"/>
                </a:solidFill>
              </a:defRPr>
            </a:pPr>
            <a:r>
              <a:t>核心体温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59" y="3291839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E78"/>
                </a:solidFill>
              </a:defRPr>
            </a:pPr>
            <a:r>
              <a:t>Tcr预测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840480"/>
            <a:ext cx="34747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840480"/>
            <a:ext cx="3474720" cy="109728"/>
          </a:xfrm>
          <a:prstGeom prst="rect">
            <a:avLst/>
          </a:prstGeom>
          <a:solidFill>
            <a:srgbClr val="0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114800"/>
            <a:ext cx="3474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/>
            </a:pPr>
            <a: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5778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F2850"/>
                </a:solidFill>
              </a:defRPr>
            </a:pPr>
            <a:r>
              <a:t>皮肤温度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0350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E78"/>
                </a:solidFill>
              </a:defRPr>
            </a:pPr>
            <a:r>
              <a:t>多点监测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6240" y="3840480"/>
            <a:ext cx="34747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06240" y="3840480"/>
            <a:ext cx="3474720" cy="109728"/>
          </a:xfrm>
          <a:prstGeom prst="rect">
            <a:avLst/>
          </a:prstGeom>
          <a:solidFill>
            <a:srgbClr val="64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4114800"/>
            <a:ext cx="3474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/>
            </a:pPr>
            <a:r>
              <a:t>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55778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F2850"/>
                </a:solidFill>
              </a:defRPr>
            </a:pPr>
            <a:r>
              <a:t>CDC评估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60350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E78"/>
                </a:solidFill>
              </a:defRPr>
            </a:pPr>
            <a:r>
              <a:t>PMV-PPD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55279" y="3840480"/>
            <a:ext cx="34747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55279" y="3840480"/>
            <a:ext cx="3474720" cy="109728"/>
          </a:xfrm>
          <a:prstGeom prst="rect">
            <a:avLst/>
          </a:prstGeom>
          <a:solidFill>
            <a:srgbClr val="B4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79" y="4114800"/>
            <a:ext cx="3474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/>
            </a:pPr>
            <a:r>
              <a:t>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59" y="55778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F2850"/>
                </a:solidFill>
              </a:defRPr>
            </a:pPr>
            <a:r>
              <a:t>服装建议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59" y="60350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E78"/>
                </a:solidFill>
              </a:defRPr>
            </a:pPr>
            <a:r>
              <a:t>智能推荐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914400"/>
            <a:ext cx="3657600" cy="3657600"/>
          </a:xfrm>
          <a:prstGeom prst="ellipse">
            <a:avLst/>
          </a:prstGeom>
          <a:solidFill>
            <a:srgbClr val="00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4572000"/>
            <a:ext cx="3657600" cy="3657600"/>
          </a:xfrm>
          <a:prstGeom prst="ellipse">
            <a:avLst/>
          </a:prstGeom>
          <a:solidFill>
            <a:srgbClr val="00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核心创新点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C8FF"/>
                </a:solidFill>
              </a:defRPr>
            </a:pPr>
            <a:r>
              <a:t>CORE INNOVATION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3657600" cy="4754880"/>
          </a:xfrm>
          <a:prstGeom prst="roundRect">
            <a:avLst/>
          </a:prstGeom>
          <a:solidFill>
            <a:srgbClr val="143264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8C00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3108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/>
            </a:pPr>
            <a:r>
              <a:t>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HR→Mi→Tcr</a:t>
            </a:r>
            <a:br/>
            <a:r>
              <a:t>递推算法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4632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300">
                <a:solidFill>
                  <a:srgbClr val="B4C8DC"/>
                </a:solidFill>
              </a:defRPr>
            </a:pPr>
            <a:r>
              <a:t>通过心率变化</a:t>
            </a:r>
            <a:br/>
            <a:r>
              <a:t>预测核心体温</a:t>
            </a:r>
            <a:br/>
            <a:r>
              <a:t>提前15-30分钟预警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63040"/>
            <a:ext cx="3657600" cy="4754880"/>
          </a:xfrm>
          <a:prstGeom prst="roundRect">
            <a:avLst/>
          </a:prstGeom>
          <a:solidFill>
            <a:srgbClr val="143264"/>
          </a:solidFill>
          <a:ln>
            <a:solidFill>
              <a:srgbClr val="00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DC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286000"/>
            <a:ext cx="3108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/>
            </a:pPr>
            <a:r>
              <a:t>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8404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多参数融合</a:t>
            </a:r>
            <a:br/>
            <a:r>
              <a:t>PMV-PPD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84632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300">
                <a:solidFill>
                  <a:srgbClr val="B4C8DC"/>
                </a:solidFill>
              </a:defRPr>
            </a:pPr>
            <a:r>
              <a:t>综合环境+代谢率</a:t>
            </a:r>
            <a:br/>
            <a:r>
              <a:t>+体温数据</a:t>
            </a:r>
            <a:br/>
            <a:r>
              <a:t>精准舒适度评估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1463040"/>
            <a:ext cx="3657600" cy="4754880"/>
          </a:xfrm>
          <a:prstGeom prst="roundRect">
            <a:avLst/>
          </a:prstGeom>
          <a:solidFill>
            <a:srgbClr val="143264"/>
          </a:solidFill>
          <a:ln>
            <a:solidFill>
              <a:srgbClr val="FF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19" y="1645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3C"/>
                </a:solidFill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286000"/>
            <a:ext cx="3108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/>
            </a:pPr>
            <a:r>
              <a:t>⚠️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8404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三级预警</a:t>
            </a:r>
            <a:br/>
            <a:r>
              <a:t>响应机制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9" y="484632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300">
                <a:solidFill>
                  <a:srgbClr val="B4C8DC"/>
                </a:solidFill>
              </a:defRPr>
            </a:pPr>
            <a:r>
              <a:t>🔵正常 🔶注意 🔴危险</a:t>
            </a:r>
            <a:br/>
            <a:r>
              <a:t>智能分级告警</a:t>
            </a:r>
            <a:br/>
            <a:r>
              <a:t>保障作业安全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总结与展望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365760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2344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F2850"/>
                </a:solidFill>
              </a:defRPr>
            </a:pPr>
            <a:r>
              <a:t>完整Web监测系统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6916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F2850"/>
                </a:solidFill>
              </a:defRPr>
            </a:pPr>
            <a:r>
              <a:t>HR→Mi→Tcr算法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1488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F2850"/>
                </a:solidFill>
              </a:defRPr>
            </a:pPr>
            <a:r>
              <a:t>PMV-PPD评估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060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F2850"/>
                </a:solidFill>
              </a:defRPr>
            </a:pPr>
            <a:r>
              <a:t>蓝牙设备对接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175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0632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F2850"/>
                </a:solidFill>
              </a:defRPr>
            </a:pPr>
            <a:r>
              <a:t>双端界面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005840"/>
            <a:ext cx="365760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1887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🏗️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12344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850"/>
                </a:solidFill>
              </a:defRPr>
            </a:pPr>
            <a:r>
              <a:t>高温作业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2801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建筑/钢铁/煤矿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8288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187451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850"/>
                </a:solidFill>
              </a:defRPr>
            </a:pPr>
            <a:r>
              <a:t>运动员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920239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马拉松/足球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46888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2514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850"/>
                </a:solidFill>
              </a:defRPr>
            </a:pPr>
            <a:r>
              <a:t>医疗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5603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术后监测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108959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15467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850"/>
                </a:solidFill>
              </a:defRPr>
            </a:pPr>
            <a:r>
              <a:t>养老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00399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异常预警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1005840"/>
            <a:ext cx="3474720" cy="2743200"/>
          </a:xfrm>
          <a:prstGeom prst="roundRect">
            <a:avLst/>
          </a:prstGeom>
          <a:solidFill>
            <a:srgbClr val="FFF5EB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10972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8C00"/>
                </a:solidFill>
              </a:defRPr>
            </a:pPr>
            <a:r>
              <a:t>🚀 未来规划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15544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8C00"/>
                </a:solidFill>
              </a:defRPr>
            </a:pPr>
            <a: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1600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F2850"/>
                </a:solidFill>
              </a:defRPr>
            </a:pPr>
            <a:r>
              <a:t>小程序端开发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20574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8C00"/>
                </a:solidFill>
              </a:defRPr>
            </a:pPr>
            <a: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21031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F2850"/>
                </a:solidFill>
              </a:defRPr>
            </a:pPr>
            <a:r>
              <a:t>多设备支持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25603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8C00"/>
                </a:solidFill>
              </a:defRPr>
            </a:pPr>
            <a: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2606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F2850"/>
                </a:solidFill>
              </a:defRPr>
            </a:pPr>
            <a:r>
              <a:t>AI预警模型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30632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8C00"/>
                </a:solidFill>
              </a:defRPr>
            </a:pPr>
            <a: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31089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F2850"/>
                </a:solidFill>
              </a:defRPr>
            </a:pPr>
            <a:r>
              <a:t>工业级部署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023360"/>
            <a:ext cx="113385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71600" y="42062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78DC"/>
                </a:solidFill>
              </a:defRPr>
            </a:pPr>
            <a:r>
              <a:t>1次/秒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50292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E78"/>
                </a:solidFill>
              </a:defRPr>
            </a:pPr>
            <a:r>
              <a:t>心率采样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0" y="42062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78DC"/>
                </a:solidFill>
              </a:defRPr>
            </a:pPr>
            <a:r>
              <a:t>&lt;500ms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50292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E78"/>
                </a:solidFill>
              </a:defRPr>
            </a:pPr>
            <a:r>
              <a:t>数据延迟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42062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78DC"/>
                </a:solidFill>
              </a:defRPr>
            </a:pPr>
            <a:r>
              <a:t>&gt;95%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50292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E78"/>
                </a:solidFill>
              </a:defRPr>
            </a:pPr>
            <a:r>
              <a:t>Tcr准确率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42062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78DC"/>
                </a:solidFill>
              </a:defRPr>
            </a:pPr>
            <a:r>
              <a:t>&lt;200ms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0" y="50292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E78"/>
                </a:solidFill>
              </a:defRPr>
            </a:pPr>
            <a:r>
              <a:t>系统响应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感谢聆听  欢迎交流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