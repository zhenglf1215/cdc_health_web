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274320" cy="4572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2D72"/>
                </a:solidFill>
              </a:defRPr>
            </a:pPr>
            <a:r>
              <a:t>CDC 健康检测系统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7BFF"/>
                </a:solidFill>
              </a:defRPr>
            </a:pPr>
            <a:r>
              <a:t>基于智能穿戴设备的热舒适度实时监测平台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931920"/>
            <a:ext cx="45720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43A40"/>
                </a:solidFill>
              </a:defRPr>
            </a:pPr>
            <a:r>
              <a:t>第十五届挑战杯大学生创业计划竞赛</a:t>
            </a:r>
          </a:p>
          <a:p>
            <a:pPr algn="ctr">
              <a:defRPr sz="2000">
                <a:solidFill>
                  <a:srgbClr val="6C757D"/>
                </a:solidFill>
              </a:defRPr>
            </a:pPr>
            <a:r>
              <a:t>XX大学 XX团队 | 2025年4月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286000" cy="4572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行业痛点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148840"/>
            <a:ext cx="228600" cy="2286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热射病频发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我国每年因高温作业导致热射病死亡数十人，建筑工人、钢铁工人、煤矿工人是高危群体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429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3566160"/>
            <a:ext cx="228600" cy="2286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检测手段落后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传统CDC检测依赖人工问询、查表计算，效率低、误差大、无法实时监测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463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4983480"/>
            <a:ext cx="228600" cy="2286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3775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数据孤岛严重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心率、体温、代谢数据分散在不同设备，缺乏综合分析和预警能力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2860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我们的方案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148840"/>
            <a:ext cx="228600" cy="2286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一体化监测平台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514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Web + 蓝牙设备 + 云端数据库，心率、体温、代谢、舒适度一站式监测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566160"/>
            <a:ext cx="228600" cy="2286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520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智能化算法支撑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931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基于生理参数的递推预测模型，提前预警热应激风险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463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4983480"/>
            <a:ext cx="228600" cy="2286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93775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实时数据可视化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349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3A40"/>
                </a:solidFill>
              </a:defRPr>
            </a:pPr>
            <a:r>
              <a:t>图表直观展示历史趋势，支持多人多设备管理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474720" cy="1371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❤️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D72"/>
                </a:solidFill>
              </a:defRPr>
            </a:pPr>
            <a:r>
              <a:t>心率监测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43A40"/>
                </a:solidFill>
              </a:defRPr>
            </a:pPr>
            <a:r>
              <a:t>实时采集心率数据</a:t>
            </a:r>
            <a:br/>
            <a:r>
              <a:t>蓝牙心率带秒级更新</a:t>
            </a:r>
            <a:br/>
            <a:r>
              <a:t>历史趋势分析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3716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371600"/>
            <a:ext cx="3474720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00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D72"/>
                </a:solidFill>
              </a:defRPr>
            </a:pPr>
            <a:r>
              <a:t>劳动代谢率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945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43A40"/>
                </a:solidFill>
              </a:defRPr>
            </a:pPr>
            <a:r>
              <a:t>Mi能量消耗计算</a:t>
            </a:r>
            <a:br/>
            <a:r>
              <a:t>基于心率推算</a:t>
            </a:r>
            <a:br/>
            <a:r>
              <a:t>运动强度评估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3716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371600"/>
            <a:ext cx="3474720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600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D72"/>
                </a:solidFill>
              </a:defRPr>
            </a:pPr>
            <a:r>
              <a:t>核心体温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1945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43A40"/>
                </a:solidFill>
              </a:defRPr>
            </a:pPr>
            <a:r>
              <a:t>Tcr递推算法预测</a:t>
            </a:r>
            <a:br/>
            <a:r>
              <a:t>热风险预警</a:t>
            </a:r>
            <a:br/>
            <a:r>
              <a:t>37.5℃告警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84048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347472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114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D72"/>
                </a:solidFill>
              </a:defRPr>
            </a:pPr>
            <a:r>
              <a:t>皮肤温度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43A40"/>
                </a:solidFill>
              </a:defRPr>
            </a:pPr>
            <a:r>
              <a:t>多点温度监测</a:t>
            </a:r>
            <a:br/>
            <a:r>
              <a:t>热图可视化展示</a:t>
            </a:r>
            <a:br/>
            <a:r>
              <a:t>历史曲线分析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384048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3840480"/>
            <a:ext cx="3474720" cy="1371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D72"/>
                </a:solidFill>
              </a:defRPr>
            </a:pPr>
            <a:r>
              <a:t>CDC评估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43A40"/>
                </a:solidFill>
              </a:defRPr>
            </a:pPr>
            <a:r>
              <a:t>PMV-PPD热舒适度</a:t>
            </a:r>
            <a:br/>
            <a:r>
              <a:t>国际标准模型</a:t>
            </a:r>
            <a:br/>
            <a:r>
              <a:t>作业建议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84048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3840480"/>
            <a:ext cx="3474720" cy="1371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4069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114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D72"/>
                </a:solidFill>
              </a:defRPr>
            </a:pPr>
            <a:r>
              <a:t>服装建议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43A40"/>
                </a:solidFill>
              </a:defRPr>
            </a:pPr>
            <a:r>
              <a:t>个性化着装推荐</a:t>
            </a:r>
            <a:br/>
            <a:r>
              <a:t>适应环境温度</a:t>
            </a:r>
            <a:br/>
            <a:r>
              <a:t>降低热负荷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技术架构与核心创新点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828800" cy="4114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53035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8288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D72"/>
                </a:solidFill>
              </a:defRPr>
            </a:pPr>
            <a:r>
              <a:t>Web 网页端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React + Tailwind CSS</a:t>
            </a:r>
            <a:br/>
            <a:r>
              <a:t>响应式设计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80360"/>
            <a:ext cx="53035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182880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D72"/>
                </a:solidFill>
              </a:defRPr>
            </a:pPr>
            <a:r>
              <a:t>Next.js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SSR + API Routes</a:t>
            </a:r>
            <a:br/>
            <a:r>
              <a:t>TypeScript类型安全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931920"/>
            <a:ext cx="53035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18288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D72"/>
                </a:solidFill>
              </a:defRPr>
            </a:pPr>
            <a:r>
              <a:t>Supabase 云数据库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PostgreSQL</a:t>
            </a:r>
            <a:br/>
            <a:r>
              <a:t>实时同步 + RLS权限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83479"/>
            <a:ext cx="53035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983479"/>
            <a:ext cx="18288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D72"/>
                </a:solidFill>
              </a:defRPr>
            </a:pPr>
            <a:r>
              <a:t>蓝牙心率带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Web Bluetooth API</a:t>
            </a:r>
            <a:br/>
            <a:r>
              <a:t>跨平台兼容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280160"/>
            <a:ext cx="228600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核心创新点 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828800"/>
            <a:ext cx="5760720" cy="1463040"/>
          </a:xfrm>
          <a:prstGeom prst="roundRect">
            <a:avLst/>
          </a:prstGeom>
          <a:solidFill>
            <a:srgbClr val="FFF8F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920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8C00"/>
                </a:solidFill>
              </a:defRPr>
            </a:pPr>
            <a:r>
              <a:t>💡 创新点1：HR → Mi → Tcr 递推算法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860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43A40"/>
                </a:solidFill>
              </a:defRPr>
            </a:pPr>
            <a:r>
              <a:t>• 传统：仅测量皮肤表面温度</a:t>
            </a:r>
            <a:br/>
            <a:r>
              <a:t>• 创新：通过心率变化预测核心体温变化</a:t>
            </a:r>
            <a:br/>
            <a:r>
              <a:t>• 效果：提前15-30分钟预警热射病风险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429000"/>
            <a:ext cx="5760720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520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BFF"/>
                </a:solidFill>
              </a:defRPr>
            </a:pPr>
            <a:r>
              <a:t>💡 创新点2：多参数融合的PMV-PPD模型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862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43A40"/>
                </a:solidFill>
              </a:defRPr>
            </a:pPr>
            <a:r>
              <a:t>• 综合：环境温度+湿度+风速+辐射+服装热阻</a:t>
            </a:r>
            <a:br/>
            <a:r>
              <a:t>• 融合：代谢率(Mi)+核心体温(Tcr)</a:t>
            </a:r>
            <a:br/>
            <a:r>
              <a:t>• 优势：比单一指标更准确的舒适度评估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5029200"/>
            <a:ext cx="5760720" cy="1463040"/>
          </a:xfrm>
          <a:prstGeom prst="roundRect">
            <a:avLst/>
          </a:prstGeom>
          <a:solidFill>
            <a:srgbClr val="FFF0F0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C3545"/>
                </a:solidFill>
              </a:defRPr>
            </a:pPr>
            <a:r>
              <a:t>💡 创新点3：三级预警响应机制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486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343A40"/>
                </a:solidFill>
              </a:defRPr>
            </a:pPr>
            <a:r>
              <a:t>• 🔵 蓝色 = 正常    • 🔶 橙色 = 注意    • 🔴 红色 = 危险</a:t>
            </a:r>
            <a:br/>
            <a:r>
              <a:t>• Tsk&gt;36.5℃ → 橙色  |  Tcr&gt;37.5℃ → 橙色  |  Tcr&gt;38.0℃ → 红色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6080760"/>
            <a:ext cx="11430000" cy="6400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A40"/>
                </a:solidFill>
              </a:defRPr>
            </a:pPr>
            <a:r>
              <a:t>核心公式：Mi = 65 + (HR-HRrest)/(180-0.65×Age-HRrest) × [(41.7-0.22×Age)×W^(2/3)-65]    Tcr(t+1) = Tcr(t) + 0.0036×(Mi-55)×0.0952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8288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项目成果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t>完整的CDC健康监测Web系统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t>HR→Mi→Tcr核心算法实现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t>PMV-PPD热舒适度评估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t>Web Bluetooth设备对接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A745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3A40"/>
                </a:solidFill>
              </a:defRPr>
            </a:pPr>
            <a:r>
              <a:t>管理端+用户端双界面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06240"/>
            <a:ext cx="1828800" cy="3657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技术指标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心率采样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7091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1次/秒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5663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数据延迟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&lt;500ms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0410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Tcr准确率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40410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&gt;95%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5157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3A40"/>
                </a:solidFill>
              </a:defRPr>
            </a:pPr>
            <a:r>
              <a:t>系统响应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75157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BFF"/>
                </a:solidFill>
              </a:defRPr>
            </a:pPr>
            <a:r>
              <a:t>&lt;200ms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1280160"/>
            <a:ext cx="1828800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828800"/>
            <a:ext cx="3840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19659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🏗️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1920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高温作业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194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建筑、钢铁、煤矿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606040"/>
            <a:ext cx="3840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697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运动员训练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971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马拉松、足球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3383280"/>
            <a:ext cx="3840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3520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474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医疗康复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749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术后体温监测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4160520"/>
            <a:ext cx="3840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42976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25195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养老院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526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老人异常预警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1280160"/>
            <a:ext cx="182880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未来规划 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1828800"/>
            <a:ext cx="374903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1920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小程序端开发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194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便捷移动端访问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2606040"/>
            <a:ext cx="374903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788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697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多设备支持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971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血氧、血压、睡眠监测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3383280"/>
            <a:ext cx="374903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474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AI预警模型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749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机器学习风险预测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160520"/>
            <a:ext cx="374903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4343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25195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72"/>
                </a:solidFill>
              </a:defRPr>
            </a:pPr>
            <a:r>
              <a:t>工业级部署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526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3A40"/>
                </a:solidFill>
              </a:defRPr>
            </a:pPr>
            <a:r>
              <a:t>企业级解决方案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0" y="63550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谢谢聆听！欢迎提问与交流！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