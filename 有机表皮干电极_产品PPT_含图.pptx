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914400" y="-914400"/>
            <a:ext cx="2743200" cy="2743200"/>
          </a:xfrm>
          <a:prstGeom prst="ellipse">
            <a:avLst/>
          </a:prstGeom>
          <a:solidFill>
            <a:srgbClr val="00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058400" y="4572000"/>
            <a:ext cx="2743200" cy="2743200"/>
          </a:xfrm>
          <a:prstGeom prst="ellipse">
            <a:avLst/>
          </a:prstGeom>
          <a:solidFill>
            <a:srgbClr val="00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200400" y="274320"/>
            <a:ext cx="5943600" cy="457200"/>
          </a:xfrm>
          <a:prstGeom prst="round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0" y="365760"/>
            <a:ext cx="5943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🏛️ 新加坡国立大学研究院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822960"/>
            <a:ext cx="5943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保形有机表皮干电极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463040"/>
            <a:ext cx="5943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DCFF"/>
                </a:solidFill>
              </a:defRPr>
            </a:pPr>
            <a:r>
              <a:t>测量人体心率和皮肤表面温度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2011680"/>
            <a:ext cx="5943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8C00"/>
                </a:solidFill>
              </a:defRPr>
            </a:pPr>
            <a:r>
              <a:t>💡 核心材料：PEDOT:PSS导电高分子 + 柔性弹性基底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2560320"/>
            <a:ext cx="5760720" cy="868680"/>
          </a:xfrm>
          <a:prstGeom prst="roundRect">
            <a:avLst/>
          </a:prstGeom>
          <a:solidFill>
            <a:srgbClr val="142850"/>
          </a:solidFill>
          <a:ln>
            <a:solidFill>
              <a:srgbClr val="007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697479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65176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机械柔性+自粘附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0175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B4C8DC"/>
                </a:solidFill>
              </a:defRPr>
            </a:pPr>
            <a:r>
              <a:t>完美贴合皮肤</a:t>
            </a:r>
            <a:br/>
            <a:r>
              <a:t>重物负载不脱落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" y="3520439"/>
            <a:ext cx="5760720" cy="868680"/>
          </a:xfrm>
          <a:prstGeom prst="roundRect">
            <a:avLst/>
          </a:prstGeom>
          <a:solidFill>
            <a:srgbClr val="142850"/>
          </a:solidFill>
          <a:ln>
            <a:solidFill>
              <a:srgbClr val="00C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3657599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3611879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高导电率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3977639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B4C8DC"/>
                </a:solidFill>
              </a:defRPr>
            </a:pPr>
            <a:r>
              <a:t>稳定传输微弱信号</a:t>
            </a:r>
            <a:br/>
            <a:r>
              <a:t>可直接点亮LED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4320" y="4480559"/>
            <a:ext cx="5760720" cy="868680"/>
          </a:xfrm>
          <a:prstGeom prst="roundRect">
            <a:avLst/>
          </a:prstGeom>
          <a:solidFill>
            <a:srgbClr val="142850"/>
          </a:solidFill>
          <a:ln>
            <a:solidFill>
              <a:srgbClr val="00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461772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💧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4571999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抗汗可拉伸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4937759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B4C8DC"/>
                </a:solidFill>
              </a:defRPr>
            </a:pPr>
            <a:r>
              <a:t>运动出汗稳定接触</a:t>
            </a:r>
            <a:br/>
            <a:r>
              <a:t>无凝胶失效问题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74320" y="5440679"/>
            <a:ext cx="5760720" cy="868680"/>
          </a:xfrm>
          <a:prstGeom prst="roundRect">
            <a:avLst/>
          </a:prstGeom>
          <a:solidFill>
            <a:srgbClr val="142850"/>
          </a:solidFill>
          <a:ln>
            <a:solidFill>
              <a:srgbClr val="B464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557784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🔗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5532119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保形接触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5897879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B4C8DC"/>
                </a:solidFill>
              </a:defRPr>
            </a:pPr>
            <a:r>
              <a:t>紧密贴合曲面</a:t>
            </a:r>
            <a:br/>
            <a:r>
              <a:t>降低接触阻抗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338328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8C00"/>
                </a:solidFill>
              </a:defRPr>
            </a:pPr>
            <a:r>
              <a:t>📷 有机干电极实物展示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8C00"/>
                </a:solidFill>
              </a:defRPr>
            </a:pPr>
            <a:r>
              <a:t>📷 皮肤贴合应用示意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测量原理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9144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932"/>
                </a:solidFill>
              </a:defRPr>
            </a:pPr>
            <a:r>
              <a:t>📋 双重测量方法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371600"/>
            <a:ext cx="502920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FF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50876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3C3C"/>
                </a:solidFill>
              </a:defRPr>
            </a:pPr>
            <a:r>
              <a:t>❤️ 心率测量：ECG心电图法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65960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6E78"/>
                </a:solidFill>
              </a:defRPr>
            </a:pPr>
            <a:r>
              <a:t>① 电极贴附 → 干电极直接粘贴皮肤，无需凝胶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31720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6E78"/>
                </a:solidFill>
              </a:defRPr>
            </a:pPr>
            <a:r>
              <a:t>② 信号采集 → 捕捉皮肤表面微弱心电信号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697479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6E78"/>
                </a:solidFill>
              </a:defRPr>
            </a:pPr>
            <a:r>
              <a:t>③ 信号处理 → 放大、滤波去除噪声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063239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6E78"/>
                </a:solidFill>
              </a:defRPr>
            </a:pPr>
            <a:r>
              <a:t>④ 心率计算 → 识别QRS波群，计算心率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" y="3566160"/>
            <a:ext cx="502920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007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37033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78FF"/>
                </a:solidFill>
              </a:defRPr>
            </a:pPr>
            <a:r>
              <a:t>🌡️ 温度测量：NTC热敏电阻法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11480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46E78"/>
                </a:solidFill>
              </a:defRPr>
            </a:pPr>
            <a:r>
              <a:t>📋 热敏复合层：PEDOT:PSS + 碳纳米管 + WPU/Ecoflex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57200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46E78"/>
                </a:solidFill>
              </a:defRPr>
            </a:pPr>
            <a:r>
              <a:t>⚡ NTC效应：温度↑ → 载流子迁移率↑ → 电阻↓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02920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46E78"/>
                </a:solidFill>
              </a:defRPr>
            </a:pPr>
            <a:r>
              <a:t>✨ 同基底共集成：一片超薄基底 = ECG + 热敏传感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0" y="338328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8C00"/>
                </a:solidFill>
              </a:defRPr>
            </a:pPr>
            <a:r>
              <a:t>📷 测量系统与信号处理</a:t>
            </a:r>
          </a:p>
        </p:txBody>
      </p:sp>
      <p:pic>
        <p:nvPicPr>
          <p:cNvPr id="18" name="Picture 17" descr="image4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3749039"/>
            <a:ext cx="6400800" cy="292608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486400" y="658368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8C00"/>
                </a:solidFill>
              </a:defRPr>
            </a:pPr>
            <a:r>
              <a:t>📷 性能对比分析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